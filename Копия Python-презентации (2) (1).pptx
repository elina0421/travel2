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64" autoAdjust="0"/>
  </p:normalViewPr>
  <p:slideViewPr>
    <p:cSldViewPr snapToGrid="0">
      <p:cViewPr>
        <p:scale>
          <a:sx n="75" d="100"/>
          <a:sy n="75" d="100"/>
        </p:scale>
        <p:origin x="946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319292" y="262625"/>
            <a:ext cx="5747740" cy="6423925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745287" y="1765301"/>
            <a:ext cx="469842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Travel Bot</a:t>
            </a:r>
            <a:endParaRPr lang="en-US" sz="3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715920" y="5841727"/>
            <a:ext cx="503509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Центр цифрового образования детей «IT-Куб.Красноярск»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2026 год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843949" y="3936187"/>
            <a:ext cx="4698426" cy="1268399"/>
          </a:xfrm>
          <a:prstGeom prst="roundRect">
            <a:avLst>
              <a:gd name="adj" fmla="val 48874"/>
            </a:avLst>
          </a:prstGeom>
          <a:solidFill>
            <a:srgbClr val="A62B21"/>
          </a:solidFill>
          <a:ln w="12700" cap="flat" cmpd="sng">
            <a:solidFill>
              <a:srgbClr val="26262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 rot="-226788">
            <a:off x="6954354" y="4025298"/>
            <a:ext cx="1105291" cy="1090174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094375" y="4332100"/>
            <a:ext cx="2723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Имя Фамилия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Крапоткина Элина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270" y="262625"/>
            <a:ext cx="6904522" cy="529166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2704541" y="2762438"/>
            <a:ext cx="351079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rgbClr val="373588"/>
                </a:solidFill>
                <a:latin typeface="Calibri"/>
                <a:ea typeface="Calibri"/>
                <a:cs typeface="Calibri"/>
                <a:sym typeface="Calibri"/>
              </a:rPr>
              <a:t>Итоговый проект по направлению</a:t>
            </a:r>
            <a:endParaRPr sz="2400" b="1">
              <a:solidFill>
                <a:srgbClr val="3735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rgbClr val="373588"/>
                </a:solidFill>
                <a:latin typeface="Calibri"/>
                <a:ea typeface="Calibri"/>
                <a:cs typeface="Calibri"/>
                <a:sym typeface="Calibri"/>
              </a:rPr>
              <a:t> «Программирование на языке python»</a:t>
            </a:r>
            <a:endParaRPr sz="2400" b="1">
              <a:solidFill>
                <a:srgbClr val="3735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6922952" y="2163295"/>
            <a:ext cx="5187767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1800" b="1" dirty="0"/>
              <a:t>Почему я выбрала эту тему</a:t>
            </a:r>
            <a:endParaRPr lang="ru-RU" sz="1800" dirty="0"/>
          </a:p>
          <a:p>
            <a:r>
              <a:rPr lang="ru-RU" sz="1600" dirty="0"/>
              <a:t>Каждый, кто планирует путешествие, сталкивается с одной и той же проблемой: чтобы найти дешёвые билеты и хороший отель, нужно открыть десяток сайтов — </a:t>
            </a:r>
            <a:r>
              <a:rPr lang="ru-RU" sz="1600" dirty="0" err="1"/>
              <a:t>Aviasales</a:t>
            </a:r>
            <a:r>
              <a:rPr lang="ru-RU" sz="1600" dirty="0"/>
              <a:t>, </a:t>
            </a:r>
            <a:r>
              <a:rPr lang="ru-RU" sz="1600" dirty="0" err="1"/>
              <a:t>Booking</a:t>
            </a:r>
            <a:r>
              <a:rPr lang="ru-RU" sz="1600" dirty="0"/>
              <a:t>, </a:t>
            </a:r>
            <a:r>
              <a:rPr lang="ru-RU" sz="1600" dirty="0" err="1"/>
              <a:t>Travelpayouts</a:t>
            </a:r>
            <a:r>
              <a:rPr lang="ru-RU" sz="1600" dirty="0"/>
              <a:t>, сравнивать цены, читать отзывы, подбирать даты. Это занимает часы и выматывает. Я решила создать </a:t>
            </a:r>
            <a:r>
              <a:rPr lang="ru-RU" sz="1600" dirty="0" err="1"/>
              <a:t>Telegram</a:t>
            </a:r>
            <a:r>
              <a:rPr lang="ru-RU" sz="1600" dirty="0"/>
              <a:t>-бота, который возьмёт эту рутину на себя. Пользователь просто отвечает на 5 вопросов: откуда, куда, когда, бюджет, нужен ли отель — а бот сам находит лучшие варианты и выдаёт готовые ссылки на покупку. 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838947" y="788559"/>
            <a:ext cx="1079862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*с помощью QR–кода можно сделать ссылку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Интернет на материалы статьи, исследования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данной области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0420350" y="486660"/>
            <a:ext cx="1308214" cy="1285127"/>
          </a:xfrm>
          <a:custGeom>
            <a:avLst/>
            <a:gdLst/>
            <a:ahLst/>
            <a:cxnLst/>
            <a:rect l="l" t="t" r="r" b="b"/>
            <a:pathLst>
              <a:path w="1004235" h="1337189" extrusionOk="0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326813" y="907826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752039" y="694480"/>
            <a:ext cx="5161286" cy="405908"/>
          </a:xfrm>
          <a:prstGeom prst="roundRect">
            <a:avLst>
              <a:gd name="adj" fmla="val 50000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Мотивация и источники вдохновения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4"/>
          <p:cNvGrpSpPr/>
          <p:nvPr/>
        </p:nvGrpSpPr>
        <p:grpSpPr>
          <a:xfrm>
            <a:off x="10157238" y="1780231"/>
            <a:ext cx="216344" cy="216344"/>
            <a:chOff x="4794103" y="1588576"/>
            <a:chExt cx="1242488" cy="1242488"/>
          </a:xfrm>
        </p:grpSpPr>
        <p:sp>
          <p:nvSpPr>
            <p:cNvPr id="108" name="Google Shape;108;p14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" name="Google Shape;109;p14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42" y="1605764"/>
            <a:ext cx="6524777" cy="4715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658271" y="2160864"/>
            <a:ext cx="107986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b="1" dirty="0"/>
              <a:t>Идея, жанр, персонажи, сюжет:</a:t>
            </a:r>
            <a:r>
              <a:rPr lang="ru-RU" dirty="0"/>
              <a:t> </a:t>
            </a:r>
            <a:r>
              <a:rPr lang="ru-RU" dirty="0" err="1"/>
              <a:t>Telegram</a:t>
            </a:r>
            <a:r>
              <a:rPr lang="ru-RU" dirty="0"/>
              <a:t>-бот для поиска авиабилетов и отелей. Пользователь отвечает на вопросы бота, бот сам находит варианты и выдаёт ссылки на покупку.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838947" y="788559"/>
            <a:ext cx="1079862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*с помощью QR–кода можно сделать ссылку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Интернет на материалы статьи, исследования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данной области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10420350" y="486660"/>
            <a:ext cx="1308214" cy="1285127"/>
          </a:xfrm>
          <a:custGeom>
            <a:avLst/>
            <a:gdLst/>
            <a:ahLst/>
            <a:cxnLst/>
            <a:rect l="l" t="t" r="r" b="b"/>
            <a:pathLst>
              <a:path w="1004235" h="1337189" extrusionOk="0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0326813" y="907826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52039" y="694480"/>
            <a:ext cx="2007899" cy="405908"/>
          </a:xfrm>
          <a:prstGeom prst="roundRect">
            <a:avLst>
              <a:gd name="adj" fmla="val 50000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Концепт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5"/>
          <p:cNvGrpSpPr/>
          <p:nvPr/>
        </p:nvGrpSpPr>
        <p:grpSpPr>
          <a:xfrm>
            <a:off x="10157238" y="1780231"/>
            <a:ext cx="216344" cy="216344"/>
            <a:chOff x="4794103" y="1588576"/>
            <a:chExt cx="1242488" cy="1242488"/>
          </a:xfrm>
        </p:grpSpPr>
        <p:sp>
          <p:nvSpPr>
            <p:cNvPr id="121" name="Google Shape;121;p15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2" name="Google Shape;122;p15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3" name="Google Shape;123;p15"/>
          <p:cNvSpPr/>
          <p:nvPr/>
        </p:nvSpPr>
        <p:spPr>
          <a:xfrm>
            <a:off x="4320067" y="3266335"/>
            <a:ext cx="3688940" cy="3591665"/>
          </a:xfrm>
          <a:custGeom>
            <a:avLst/>
            <a:gdLst/>
            <a:ahLst/>
            <a:cxnLst/>
            <a:rect l="l" t="t" r="r" b="b"/>
            <a:pathLst>
              <a:path w="1004197" h="1337151" extrusionOk="0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09532" y="4120903"/>
            <a:ext cx="3688940" cy="2737098"/>
          </a:xfrm>
          <a:custGeom>
            <a:avLst/>
            <a:gdLst/>
            <a:ahLst/>
            <a:cxnLst/>
            <a:rect l="l" t="t" r="r" b="b"/>
            <a:pathLst>
              <a:path w="1004197" h="1337151" extrusionOk="0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260118" y="4237003"/>
            <a:ext cx="3688940" cy="2620997"/>
          </a:xfrm>
          <a:custGeom>
            <a:avLst/>
            <a:gdLst/>
            <a:ahLst/>
            <a:cxnLst/>
            <a:rect l="l" t="t" r="r" b="b"/>
            <a:pathLst>
              <a:path w="1004197" h="1337151" extrusionOk="0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08000" y="4447478"/>
            <a:ext cx="35904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технические характеристики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886085" y="4447478"/>
            <a:ext cx="2570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84508" y="4877147"/>
            <a:ext cx="3136534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</a:rPr>
              <a:t>Бот задаёт 5 вопросов, сохраняет ответы в базу данных, отправляет запросы к API </a:t>
            </a:r>
            <a:r>
              <a:rPr lang="ru-RU" dirty="0" err="1">
                <a:solidFill>
                  <a:schemeClr val="bg1"/>
                </a:solidFill>
              </a:rPr>
              <a:t>Travelpayouts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ru-RU" dirty="0" err="1">
                <a:solidFill>
                  <a:schemeClr val="bg1"/>
                </a:solidFill>
              </a:rPr>
              <a:t>Hotellook</a:t>
            </a:r>
            <a:r>
              <a:rPr lang="ru-RU" dirty="0">
                <a:solidFill>
                  <a:schemeClr val="bg1"/>
                </a:solidFill>
              </a:rPr>
              <a:t>, сортирует результаты по цене и отправляет пользователю. Результат — готовые предложения за 30–60 секунд.</a:t>
            </a:r>
            <a:endParaRPr sz="16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423169" y="4877147"/>
            <a:ext cx="3136534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</a:rPr>
              <a:t>Проект на </a:t>
            </a:r>
            <a:r>
              <a:rPr lang="ru-RU" dirty="0" err="1">
                <a:solidFill>
                  <a:schemeClr val="bg1"/>
                </a:solidFill>
              </a:rPr>
              <a:t>Python</a:t>
            </a:r>
            <a:r>
              <a:rPr lang="ru-RU" dirty="0">
                <a:solidFill>
                  <a:schemeClr val="bg1"/>
                </a:solidFill>
              </a:rPr>
              <a:t> 3.13, </a:t>
            </a:r>
            <a:r>
              <a:rPr lang="ru-RU" dirty="0" err="1">
                <a:solidFill>
                  <a:schemeClr val="bg1"/>
                </a:solidFill>
              </a:rPr>
              <a:t>aiogram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SQLite</a:t>
            </a:r>
            <a:r>
              <a:rPr lang="ru-RU" dirty="0">
                <a:solidFill>
                  <a:schemeClr val="bg1"/>
                </a:solidFill>
              </a:rPr>
              <a:t>, работает на любых устройствах с </a:t>
            </a:r>
            <a:r>
              <a:rPr lang="ru-RU" dirty="0" err="1">
                <a:solidFill>
                  <a:schemeClr val="bg1"/>
                </a:solidFill>
              </a:rPr>
              <a:t>Telegram</a:t>
            </a:r>
            <a:r>
              <a:rPr lang="ru-RU" dirty="0">
                <a:solidFill>
                  <a:schemeClr val="bg1"/>
                </a:solidFill>
              </a:rPr>
              <a:t>. Ограничения: лимиты API (5000 запросов в день), возможные блокировки сервисов,</a:t>
            </a:r>
            <a:endParaRPr sz="16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82" y="4953998"/>
            <a:ext cx="1889844" cy="166217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784" y="3643852"/>
            <a:ext cx="1509753" cy="1486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7662530" y="3820650"/>
            <a:ext cx="3602889" cy="2627188"/>
          </a:xfrm>
          <a:prstGeom prst="rect">
            <a:avLst/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31394" y="577196"/>
            <a:ext cx="1586948" cy="184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b="1" dirty="0"/>
              <a:t> </a:t>
            </a:r>
            <a:r>
              <a:rPr lang="en-US" b="1" dirty="0" err="1"/>
              <a:t>AviasalesBot</a:t>
            </a: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004406" y="1381724"/>
            <a:ext cx="2504445" cy="209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ru-RU" dirty="0"/>
              <a:t> </a:t>
            </a:r>
            <a:r>
              <a:rPr lang="ru-RU" b="1" dirty="0" smtClean="0"/>
              <a:t>Широкая география</a:t>
            </a:r>
            <a:endParaRPr dirty="0"/>
          </a:p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sz="16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ru-RU" b="1" dirty="0" smtClean="0"/>
              <a:t>Можно указать нужен </a:t>
            </a:r>
            <a:r>
              <a:rPr lang="ru-RU" b="1" dirty="0"/>
              <a:t>ли багаж</a:t>
            </a:r>
            <a:endParaRPr b="1" dirty="0"/>
          </a:p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sz="16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ru-RU" b="1" dirty="0"/>
              <a:t>Бот </a:t>
            </a:r>
            <a:r>
              <a:rPr lang="ru-RU" b="1" dirty="0" err="1"/>
              <a:t>мониторит</a:t>
            </a:r>
            <a:r>
              <a:rPr lang="ru-RU" b="1" dirty="0"/>
              <a:t> цены и присылает уведомления при снижении 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 rot="10800000" flipH="1">
            <a:off x="5689771" y="811834"/>
            <a:ext cx="145126" cy="145126"/>
            <a:chOff x="4794103" y="1588576"/>
            <a:chExt cx="1242488" cy="1242488"/>
          </a:xfrm>
        </p:grpSpPr>
        <p:sp>
          <p:nvSpPr>
            <p:cNvPr id="139" name="Google Shape;139;p16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0" name="Google Shape;140;p16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1" name="Google Shape;141;p16"/>
          <p:cNvGrpSpPr/>
          <p:nvPr/>
        </p:nvGrpSpPr>
        <p:grpSpPr>
          <a:xfrm>
            <a:off x="1965843" y="1107274"/>
            <a:ext cx="10476528" cy="5426752"/>
            <a:chOff x="2256043" y="1410384"/>
            <a:chExt cx="7701130" cy="4266482"/>
          </a:xfrm>
        </p:grpSpPr>
        <p:cxnSp>
          <p:nvCxnSpPr>
            <p:cNvPr id="142" name="Google Shape;142;p16"/>
            <p:cNvCxnSpPr/>
            <p:nvPr/>
          </p:nvCxnSpPr>
          <p:spPr>
            <a:xfrm>
              <a:off x="6093386" y="1410384"/>
              <a:ext cx="0" cy="426648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16"/>
            <p:cNvCxnSpPr/>
            <p:nvPr/>
          </p:nvCxnSpPr>
          <p:spPr>
            <a:xfrm>
              <a:off x="4174490" y="1410384"/>
              <a:ext cx="0" cy="426648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" name="Google Shape;144;p16"/>
            <p:cNvCxnSpPr/>
            <p:nvPr/>
          </p:nvCxnSpPr>
          <p:spPr>
            <a:xfrm>
              <a:off x="2256043" y="1410384"/>
              <a:ext cx="0" cy="426648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" name="Google Shape;145;p16"/>
            <p:cNvCxnSpPr/>
            <p:nvPr/>
          </p:nvCxnSpPr>
          <p:spPr>
            <a:xfrm>
              <a:off x="9957173" y="1410384"/>
              <a:ext cx="0" cy="426648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7" name="Google Shape;147;p16"/>
          <p:cNvGrpSpPr/>
          <p:nvPr/>
        </p:nvGrpSpPr>
        <p:grpSpPr>
          <a:xfrm>
            <a:off x="3300292" y="785253"/>
            <a:ext cx="145126" cy="145126"/>
            <a:chOff x="4794103" y="1588576"/>
            <a:chExt cx="1242488" cy="1242488"/>
          </a:xfrm>
        </p:grpSpPr>
        <p:sp>
          <p:nvSpPr>
            <p:cNvPr id="148" name="Google Shape;148;p16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" name="Google Shape;149;p16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50" name="Google Shape;150;p16"/>
          <p:cNvCxnSpPr/>
          <p:nvPr/>
        </p:nvCxnSpPr>
        <p:spPr>
          <a:xfrm rot="10800000">
            <a:off x="332589" y="3698119"/>
            <a:ext cx="11465861" cy="473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16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name="adj" fmla="val 16667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62B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>
            <a:hlinkClick r:id="" action="ppaction://hlinkshowjump?jump=firstslide"/>
          </p:cNvPr>
          <p:cNvSpPr/>
          <p:nvPr/>
        </p:nvSpPr>
        <p:spPr>
          <a:xfrm>
            <a:off x="623035" y="306559"/>
            <a:ext cx="1853465" cy="26442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Аналоги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>
            <a:off x="347868" y="676494"/>
            <a:ext cx="19081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16"/>
          <p:cNvSpPr txBox="1"/>
          <p:nvPr/>
        </p:nvSpPr>
        <p:spPr>
          <a:xfrm>
            <a:off x="345818" y="3297007"/>
            <a:ext cx="1586948" cy="184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b="1" dirty="0" err="1"/>
              <a:t>GuideGeek</a:t>
            </a: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689161" y="865388"/>
            <a:ext cx="3602889" cy="2627188"/>
          </a:xfrm>
          <a:prstGeom prst="rect">
            <a:avLst/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632857" y="1895047"/>
            <a:ext cx="3584378" cy="86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обязательно разместите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фото аналога</a:t>
            </a:r>
            <a:endParaRPr sz="1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7707672" y="4816723"/>
            <a:ext cx="3584378" cy="86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обязательно разместите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фото аналога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49935" y="2103104"/>
            <a:ext cx="1308214" cy="1285127"/>
          </a:xfrm>
          <a:custGeom>
            <a:avLst/>
            <a:gdLst/>
            <a:ahLst/>
            <a:cxnLst/>
            <a:rect l="l" t="t" r="r" b="b"/>
            <a:pathLst>
              <a:path w="1004235" h="1337189" extrusionOk="0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356398" y="2524270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431992" y="4881231"/>
            <a:ext cx="1308214" cy="1285127"/>
          </a:xfrm>
          <a:custGeom>
            <a:avLst/>
            <a:gdLst/>
            <a:ahLst/>
            <a:cxnLst/>
            <a:rect l="l" t="t" r="r" b="b"/>
            <a:pathLst>
              <a:path w="1004235" h="1337189" extrusionOk="0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38455" y="5302397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066793" y="4146546"/>
            <a:ext cx="2552096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ru-RU" dirty="0"/>
              <a:t> </a:t>
            </a:r>
            <a:r>
              <a:rPr lang="ru-RU" b="1" dirty="0"/>
              <a:t>Искусственный </a:t>
            </a:r>
            <a:r>
              <a:rPr lang="ru-RU" b="1" dirty="0" smtClean="0"/>
              <a:t>интеллект</a:t>
            </a:r>
          </a:p>
          <a:p>
            <a:pPr lvl="0">
              <a:buClr>
                <a:schemeClr val="dk1"/>
              </a:buClr>
              <a:buSzPts val="1600"/>
            </a:pPr>
            <a:endParaRPr lang="ru-RU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ru-RU" sz="16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ru-RU" b="1" dirty="0" smtClean="0"/>
              <a:t>Бесплатный</a:t>
            </a:r>
          </a:p>
          <a:p>
            <a:pPr lvl="0">
              <a:buClr>
                <a:schemeClr val="dk1"/>
              </a:buClr>
              <a:buSzPts val="1600"/>
            </a:pPr>
            <a:endParaRPr lang="ru-RU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ru-RU" sz="16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ru-RU" b="1" dirty="0"/>
              <a:t>Доступен везде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4618889" y="1378356"/>
            <a:ext cx="2627637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ru-RU" sz="16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b="1" dirty="0" smtClean="0"/>
              <a:t>Медленные уведомления</a:t>
            </a:r>
            <a:endParaRPr dirty="0"/>
          </a:p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dirty="0" smtClean="0"/>
              <a:t>-  </a:t>
            </a:r>
            <a:r>
              <a:rPr lang="ru-RU" b="1" dirty="0" smtClean="0"/>
              <a:t>Только подписки</a:t>
            </a:r>
            <a:endParaRPr lang="ru-RU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dirty="0" smtClean="0"/>
              <a:t>-  </a:t>
            </a:r>
            <a:r>
              <a:rPr lang="ru-RU" b="1" dirty="0" smtClean="0"/>
              <a:t>Нестабильная </a:t>
            </a:r>
            <a:r>
              <a:rPr lang="ru-RU" b="1" dirty="0"/>
              <a:t>работа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4750056" y="4121073"/>
            <a:ext cx="2169681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600"/>
              <a:buFontTx/>
              <a:buChar char="-"/>
            </a:pPr>
            <a:r>
              <a:rPr lang="ru-RU" b="1" dirty="0" smtClean="0"/>
              <a:t>Нет бронирования</a:t>
            </a:r>
          </a:p>
          <a:p>
            <a:pPr marL="285750" lvl="0" indent="-285750">
              <a:buClr>
                <a:schemeClr val="dk1"/>
              </a:buClr>
              <a:buSzPts val="1600"/>
              <a:buFontTx/>
              <a:buChar char="-"/>
            </a:pPr>
            <a:endParaRPr lang="ru-RU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600"/>
              <a:buFontTx/>
              <a:buChar char="-"/>
            </a:pPr>
            <a:r>
              <a:rPr lang="ru-RU" b="1" dirty="0"/>
              <a:t>Нет реальных </a:t>
            </a:r>
            <a:r>
              <a:rPr lang="ru-RU" b="1" dirty="0" smtClean="0"/>
              <a:t>цен</a:t>
            </a:r>
          </a:p>
          <a:p>
            <a:pPr marL="285750" lvl="0" indent="-285750">
              <a:buClr>
                <a:schemeClr val="dk1"/>
              </a:buClr>
              <a:buSzPts val="1600"/>
              <a:buFontTx/>
              <a:buChar char="-"/>
            </a:pPr>
            <a:endParaRPr lang="ru-RU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600"/>
              <a:buFontTx/>
              <a:buChar char="-"/>
            </a:pPr>
            <a:r>
              <a:rPr lang="ru-RU" b="1" dirty="0"/>
              <a:t>Ошибки ИИ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028" y="4221922"/>
            <a:ext cx="3277879" cy="170111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069" y="1040218"/>
            <a:ext cx="3113242" cy="2244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0" y="270983"/>
            <a:ext cx="12192000" cy="2890334"/>
          </a:xfrm>
          <a:prstGeom prst="roundRect">
            <a:avLst>
              <a:gd name="adj" fmla="val 91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96687" y="1516095"/>
            <a:ext cx="107986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b="1" dirty="0">
                <a:solidFill>
                  <a:schemeClr val="bg1"/>
                </a:solidFill>
              </a:rPr>
              <a:t>Цель проекта</a:t>
            </a:r>
            <a:r>
              <a:rPr lang="ru-RU" dirty="0">
                <a:solidFill>
                  <a:schemeClr val="bg1"/>
                </a:solidFill>
              </a:rPr>
              <a:t> — создать </a:t>
            </a:r>
            <a:r>
              <a:rPr lang="ru-RU" dirty="0" err="1">
                <a:solidFill>
                  <a:schemeClr val="bg1"/>
                </a:solidFill>
              </a:rPr>
              <a:t>Telegram</a:t>
            </a:r>
            <a:r>
              <a:rPr lang="ru-RU" dirty="0">
                <a:solidFill>
                  <a:schemeClr val="bg1"/>
                </a:solidFill>
              </a:rPr>
              <a:t>-бота, который поможет пользователям быстро и удобно находить дешёвые авиабилеты и отели, экономя время на поиск и позволяя уложиться в заданный бюджет.</a:t>
            </a:r>
            <a:endParaRPr sz="2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96688" y="640800"/>
            <a:ext cx="2551338" cy="405908"/>
          </a:xfrm>
          <a:prstGeom prst="roundRect">
            <a:avLst>
              <a:gd name="adj" fmla="val 50000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Цель проекта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696687" y="3427031"/>
            <a:ext cx="2551338" cy="405908"/>
          </a:xfrm>
          <a:prstGeom prst="roundRect">
            <a:avLst>
              <a:gd name="adj" fmla="val 50000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Задачи проекта</a:t>
            </a:r>
            <a:endParaRPr/>
          </a:p>
        </p:txBody>
      </p:sp>
      <p:grpSp>
        <p:nvGrpSpPr>
          <p:cNvPr id="173" name="Google Shape;173;p17"/>
          <p:cNvGrpSpPr/>
          <p:nvPr/>
        </p:nvGrpSpPr>
        <p:grpSpPr>
          <a:xfrm rot="10800000" flipH="1">
            <a:off x="113884" y="4147649"/>
            <a:ext cx="117856" cy="138977"/>
            <a:chOff x="4794103" y="1588576"/>
            <a:chExt cx="1242488" cy="1242488"/>
          </a:xfrm>
        </p:grpSpPr>
        <p:sp>
          <p:nvSpPr>
            <p:cNvPr id="174" name="Google Shape;174;p17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17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6" name="Google Shape;176;p17"/>
          <p:cNvSpPr/>
          <p:nvPr/>
        </p:nvSpPr>
        <p:spPr>
          <a:xfrm>
            <a:off x="113884" y="4163669"/>
            <a:ext cx="3350076" cy="2571373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7"/>
          <p:cNvGrpSpPr/>
          <p:nvPr/>
        </p:nvGrpSpPr>
        <p:grpSpPr>
          <a:xfrm rot="10800000" flipH="1">
            <a:off x="4095334" y="4163669"/>
            <a:ext cx="117856" cy="138977"/>
            <a:chOff x="4794103" y="1588576"/>
            <a:chExt cx="1242488" cy="1242488"/>
          </a:xfrm>
        </p:grpSpPr>
        <p:sp>
          <p:nvSpPr>
            <p:cNvPr id="178" name="Google Shape;178;p17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" name="Google Shape;179;p17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0" name="Google Shape;180;p17"/>
          <p:cNvSpPr/>
          <p:nvPr/>
        </p:nvSpPr>
        <p:spPr>
          <a:xfrm>
            <a:off x="4095334" y="4179689"/>
            <a:ext cx="3350076" cy="2571373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17"/>
          <p:cNvGrpSpPr/>
          <p:nvPr/>
        </p:nvGrpSpPr>
        <p:grpSpPr>
          <a:xfrm rot="10800000" flipH="1">
            <a:off x="8145237" y="4179689"/>
            <a:ext cx="117856" cy="138977"/>
            <a:chOff x="4794103" y="1588576"/>
            <a:chExt cx="1242488" cy="1242488"/>
          </a:xfrm>
        </p:grpSpPr>
        <p:sp>
          <p:nvSpPr>
            <p:cNvPr id="182" name="Google Shape;182;p17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3" name="Google Shape;183;p17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4" name="Google Shape;184;p17"/>
          <p:cNvSpPr/>
          <p:nvPr/>
        </p:nvSpPr>
        <p:spPr>
          <a:xfrm>
            <a:off x="8145237" y="4195709"/>
            <a:ext cx="3350076" cy="2571373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32868" y="4398002"/>
            <a:ext cx="3131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297680" y="4398002"/>
            <a:ext cx="3147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реализация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263093" y="4406429"/>
            <a:ext cx="32322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финализация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332868" y="5001667"/>
            <a:ext cx="2821812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dirty="0"/>
              <a:t>спроектировать архитектуру бота, базу данных (</a:t>
            </a:r>
            <a:r>
              <a:rPr lang="ru-RU" dirty="0" err="1"/>
              <a:t>SQLite</a:t>
            </a:r>
            <a:r>
              <a:rPr lang="ru-RU" dirty="0" smtClean="0"/>
              <a:t>).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450161" y="4872127"/>
            <a:ext cx="2842767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dirty="0"/>
              <a:t>написать код на </a:t>
            </a:r>
            <a:r>
              <a:rPr lang="ru-RU" dirty="0" err="1"/>
              <a:t>Python</a:t>
            </a:r>
            <a:r>
              <a:rPr lang="ru-RU" dirty="0"/>
              <a:t> (</a:t>
            </a:r>
            <a:r>
              <a:rPr lang="ru-RU" dirty="0" err="1"/>
              <a:t>aiogram</a:t>
            </a:r>
            <a:r>
              <a:rPr lang="ru-RU" dirty="0"/>
              <a:t>, </a:t>
            </a:r>
            <a:r>
              <a:rPr lang="ru-RU" dirty="0" err="1"/>
              <a:t>requests</a:t>
            </a:r>
            <a:r>
              <a:rPr lang="ru-RU" dirty="0"/>
              <a:t>, </a:t>
            </a:r>
            <a:r>
              <a:rPr lang="ru-RU" dirty="0" err="1"/>
              <a:t>asyncio</a:t>
            </a:r>
            <a:r>
              <a:rPr lang="ru-RU" dirty="0"/>
              <a:t>), интегрировать API для поиска билетов и отелей, добавить фильтры (бюджет, звездность, </a:t>
            </a:r>
            <a:r>
              <a:rPr lang="ru-RU" dirty="0" smtClean="0"/>
              <a:t>даты и </a:t>
            </a:r>
            <a:r>
              <a:rPr lang="ru-RU" dirty="0" err="1" smtClean="0"/>
              <a:t>тд</a:t>
            </a:r>
            <a:r>
              <a:rPr lang="ru-RU" dirty="0" smtClean="0"/>
              <a:t>.)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8263093" y="4863523"/>
            <a:ext cx="3150282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ru-RU" dirty="0"/>
              <a:t>протестировать, исправить ошибки, добавить историю </a:t>
            </a:r>
            <a:r>
              <a:rPr lang="ru-RU" dirty="0" smtClean="0"/>
              <a:t>запросов.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5400000">
            <a:off x="5646376" y="312376"/>
            <a:ext cx="6858000" cy="6233248"/>
          </a:xfrm>
          <a:prstGeom prst="roundRect">
            <a:avLst>
              <a:gd name="adj" fmla="val 91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97;p18"/>
          <p:cNvSpPr/>
          <p:nvPr/>
        </p:nvSpPr>
        <p:spPr>
          <a:xfrm>
            <a:off x="6107546" y="472343"/>
            <a:ext cx="3346189" cy="2422415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7934274" y="3474262"/>
            <a:ext cx="3659128" cy="2422415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55396" y="-806144"/>
            <a:ext cx="6151359" cy="262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Предлагаемый </a:t>
            </a:r>
            <a:endParaRPr sz="20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2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продукт</a:t>
            </a:r>
            <a:endParaRPr sz="20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68887" y="1099628"/>
            <a:ext cx="5296899" cy="566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200"/>
            </a:pP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Мой продукт — это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-бот для поиска авиабилетов и отелей. Он построен на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 использованием библиотек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aiogram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внешних API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Travelpayouts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Hotellook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Основные функции: опрос пользователя (откуда, куда, бюджет, даты, звездность отеля), мгновенный поиск билетов и отелей, сортировка по цене, вывод результатов с активными ссылками на покупку, сохранение истории запросов в базу данных и управление через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инлайн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-кнопки. Пользователь запускает бота командой /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выбирает нужный режим, отвечает на вопросы и через 30–60 секунд получает готовые варианты. Бот работает на всех устройствах с </a:t>
            </a:r>
            <a:r>
              <a:rPr lang="ru-RU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lang="ru-RU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200"/>
            </a:pPr>
            <a:r>
              <a:rPr lang="ru-RU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</a:t>
            </a:r>
            <a:r>
              <a:rPr lang="ru-RU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создан полностью рабочий бот, который решает проблему долгого поиска билетов и отелей, экономя время и деньги пользователя.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 rot="10800000">
            <a:off x="11172813" y="3794116"/>
            <a:ext cx="138977" cy="138977"/>
            <a:chOff x="4794103" y="1588576"/>
            <a:chExt cx="1242488" cy="1242488"/>
          </a:xfrm>
        </p:grpSpPr>
        <p:sp>
          <p:nvSpPr>
            <p:cNvPr id="206" name="Google Shape;206;p18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7" name="Google Shape;207;p18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08" name="Google Shape;208;p18"/>
          <p:cNvGrpSpPr/>
          <p:nvPr/>
        </p:nvGrpSpPr>
        <p:grpSpPr>
          <a:xfrm>
            <a:off x="6330370" y="2623421"/>
            <a:ext cx="138977" cy="138977"/>
            <a:chOff x="4794103" y="1588576"/>
            <a:chExt cx="1242488" cy="1242488"/>
          </a:xfrm>
        </p:grpSpPr>
        <p:sp>
          <p:nvSpPr>
            <p:cNvPr id="209" name="Google Shape;209;p18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0" name="Google Shape;210;p18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1" name="Google Shape;211;p18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name="adj" fmla="val 166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8"/>
          <p:cNvCxnSpPr/>
          <p:nvPr/>
        </p:nvCxnSpPr>
        <p:spPr>
          <a:xfrm>
            <a:off x="978292" y="543090"/>
            <a:ext cx="19081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5555" y="6326507"/>
            <a:ext cx="114489" cy="11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387" y="1036873"/>
            <a:ext cx="2949196" cy="138696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566" y="3933093"/>
            <a:ext cx="2720576" cy="1699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228600" y="336934"/>
            <a:ext cx="11723914" cy="707410"/>
          </a:xfrm>
          <a:prstGeom prst="roundRect">
            <a:avLst>
              <a:gd name="adj" fmla="val 2288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696687" y="395827"/>
            <a:ext cx="493179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Ресурсы и экономика проекта</a:t>
            </a:r>
            <a:endParaRPr dirty="0"/>
          </a:p>
        </p:txBody>
      </p:sp>
      <p:sp>
        <p:nvSpPr>
          <p:cNvPr id="223" name="Google Shape;223;p19"/>
          <p:cNvSpPr txBox="1"/>
          <p:nvPr/>
        </p:nvSpPr>
        <p:spPr>
          <a:xfrm>
            <a:off x="228600" y="5664171"/>
            <a:ext cx="5509725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Отразите в таблице стоимость программного обеспечения, расходы на проведение тестирования, на аренду помещения и амортизацию оборудования, затраты на оплату труда или оплату услуг сторонних организаций. Подведите итог стоимости вашего проекта.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14299" y="516243"/>
            <a:ext cx="282388" cy="282388"/>
          </a:xfrm>
          <a:prstGeom prst="roundRect">
            <a:avLst>
              <a:gd name="adj" fmla="val 166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9868202" y="1866886"/>
            <a:ext cx="1525967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9863596" y="2465806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9868202" y="3087055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9868202" y="3697141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868202" y="4307175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601500" y="4917213"/>
            <a:ext cx="6792669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9805478" y="1972816"/>
            <a:ext cx="1525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Стоимость, ₽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0166742" y="2553303"/>
            <a:ext cx="91967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9870856" y="3137325"/>
            <a:ext cx="1525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9870856" y="3766033"/>
            <a:ext cx="1525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9870856" y="4361322"/>
            <a:ext cx="1525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601500" y="4997499"/>
            <a:ext cx="68067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14300" y="1866886"/>
            <a:ext cx="542830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14299" y="2465806"/>
            <a:ext cx="538225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11650" y="3087055"/>
            <a:ext cx="545480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09000" y="3697141"/>
            <a:ext cx="548129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14299" y="4307175"/>
            <a:ext cx="542831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14299" y="2508572"/>
            <a:ext cx="4808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414299" y="3137325"/>
            <a:ext cx="5454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11650" y="3766033"/>
            <a:ext cx="548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09000" y="4361322"/>
            <a:ext cx="5507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1155495" y="1866886"/>
            <a:ext cx="8210695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1158140" y="2482416"/>
            <a:ext cx="8208049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155495" y="3087055"/>
            <a:ext cx="8210693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1155496" y="3697141"/>
            <a:ext cx="8210692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1155496" y="4307175"/>
            <a:ext cx="8210692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409001" y="4917213"/>
            <a:ext cx="3942976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495656" y="4956611"/>
            <a:ext cx="375287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335599" y="1895382"/>
            <a:ext cx="720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№</a:t>
            </a:r>
            <a:r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п/п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1254679" y="1944177"/>
            <a:ext cx="79064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Наименование материалов или услуг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392597" y="2548965"/>
            <a:ext cx="775744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/>
              <a:t>API </a:t>
            </a:r>
            <a:r>
              <a:rPr lang="en-US" dirty="0" err="1"/>
              <a:t>Travelpayouts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1384002" y="3160752"/>
            <a:ext cx="77770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/>
              <a:t>API </a:t>
            </a:r>
            <a:r>
              <a:rPr lang="en-US" dirty="0" err="1"/>
              <a:t>Hotellook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1376341" y="3761625"/>
            <a:ext cx="778475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dirty="0"/>
              <a:t>Инструменты разработки </a:t>
            </a:r>
            <a:r>
              <a:rPr lang="ru-RU" dirty="0" smtClean="0"/>
              <a:t>(</a:t>
            </a:r>
            <a:r>
              <a:rPr lang="en-US" dirty="0" smtClean="0"/>
              <a:t>SQL</a:t>
            </a:r>
            <a:r>
              <a:rPr lang="ru-RU" dirty="0" smtClean="0"/>
              <a:t>, </a:t>
            </a:r>
            <a:r>
              <a:rPr lang="ru-RU" dirty="0" err="1" smtClean="0"/>
              <a:t>Python</a:t>
            </a:r>
            <a:r>
              <a:rPr lang="ru-RU" dirty="0"/>
              <a:t>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376340" y="4382458"/>
            <a:ext cx="77847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/>
              <a:t>Telegram Bot API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8375142" y="5885663"/>
            <a:ext cx="16659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Прикрепите ссылку на смету если она была в виде QR–кода</a:t>
            </a:r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10134604" y="5542202"/>
            <a:ext cx="1308214" cy="1285127"/>
          </a:xfrm>
          <a:custGeom>
            <a:avLst/>
            <a:gdLst/>
            <a:ahLst/>
            <a:cxnLst/>
            <a:rect l="l" t="t" r="r" b="b"/>
            <a:pathLst>
              <a:path w="1004235" h="1337189" extrusionOk="0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10041067" y="5892633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grpSp>
        <p:nvGrpSpPr>
          <p:cNvPr id="262" name="Google Shape;262;p19"/>
          <p:cNvGrpSpPr/>
          <p:nvPr/>
        </p:nvGrpSpPr>
        <p:grpSpPr>
          <a:xfrm rot="10800000" flipH="1">
            <a:off x="9988851" y="5404330"/>
            <a:ext cx="216344" cy="216344"/>
            <a:chOff x="4794103" y="1588576"/>
            <a:chExt cx="1242488" cy="1242488"/>
          </a:xfrm>
        </p:grpSpPr>
        <p:sp>
          <p:nvSpPr>
            <p:cNvPr id="263" name="Google Shape;263;p19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4" name="Google Shape;264;p19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 rot="5400000">
            <a:off x="-685574" y="480056"/>
            <a:ext cx="6857999" cy="5897888"/>
          </a:xfrm>
          <a:prstGeom prst="roundRect">
            <a:avLst>
              <a:gd name="adj" fmla="val 91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752039" y="694480"/>
            <a:ext cx="2007899" cy="405908"/>
          </a:xfrm>
          <a:prstGeom prst="roundRect">
            <a:avLst>
              <a:gd name="adj" fmla="val 50000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817273" y="109226"/>
            <a:ext cx="2044933" cy="2422415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8447553" y="109226"/>
            <a:ext cx="2176912" cy="2422415"/>
          </a:xfrm>
          <a:custGeom>
            <a:avLst/>
            <a:gdLst/>
            <a:ahLst/>
            <a:cxnLst/>
            <a:rect l="l" t="t" r="r" b="b"/>
            <a:pathLst>
              <a:path w="1337754" h="1670577" extrusionOk="0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0" y="1440547"/>
            <a:ext cx="7489995" cy="262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lt1"/>
              </a:buClr>
              <a:buSzPts val="5400"/>
            </a:pPr>
            <a:r>
              <a:rPr lang="en-US" sz="8000" b="1" dirty="0">
                <a:solidFill>
                  <a:schemeClr val="bg1"/>
                </a:solidFill>
              </a:rPr>
              <a:t>Travel Bot</a:t>
            </a:r>
            <a:endParaRPr sz="8000" b="1" i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82341" y="3436804"/>
            <a:ext cx="5443291" cy="26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ru-RU" dirty="0">
                <a:solidFill>
                  <a:schemeClr val="bg1"/>
                </a:solidFill>
              </a:rPr>
              <a:t>Создан полностью рабочий </a:t>
            </a:r>
            <a:r>
              <a:rPr lang="ru-RU" dirty="0" err="1">
                <a:solidFill>
                  <a:schemeClr val="bg1"/>
                </a:solidFill>
              </a:rPr>
              <a:t>Telegram</a:t>
            </a:r>
            <a:r>
              <a:rPr lang="ru-RU" dirty="0">
                <a:solidFill>
                  <a:schemeClr val="bg1"/>
                </a:solidFill>
              </a:rPr>
              <a:t>-бот для поиска авиабилетов и отелей. Бот успешно интегрирован с API </a:t>
            </a:r>
            <a:r>
              <a:rPr lang="ru-RU" dirty="0" err="1">
                <a:solidFill>
                  <a:schemeClr val="bg1"/>
                </a:solidFill>
              </a:rPr>
              <a:t>Travelpayouts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ru-RU" dirty="0" err="1">
                <a:solidFill>
                  <a:schemeClr val="bg1"/>
                </a:solidFill>
              </a:rPr>
              <a:t>Hotellook</a:t>
            </a:r>
            <a:r>
              <a:rPr lang="ru-RU" dirty="0">
                <a:solidFill>
                  <a:schemeClr val="bg1"/>
                </a:solidFill>
              </a:rPr>
              <a:t>, умеет фильтровать по бюджету и звёздности отеля, выдаёт готовые варианты с прямыми ссылками на покупку за 30–60 секунд, сохраняет историю запросов и управляется через удобные </a:t>
            </a:r>
            <a:r>
              <a:rPr lang="ru-RU" dirty="0" err="1">
                <a:solidFill>
                  <a:schemeClr val="bg1"/>
                </a:solidFill>
              </a:rPr>
              <a:t>инлайн</a:t>
            </a:r>
            <a:r>
              <a:rPr lang="ru-RU" dirty="0">
                <a:solidFill>
                  <a:schemeClr val="bg1"/>
                </a:solidFill>
              </a:rPr>
              <a:t>-кнопки. </a:t>
            </a:r>
            <a:endParaRPr sz="12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20"/>
          <p:cNvGrpSpPr/>
          <p:nvPr/>
        </p:nvGrpSpPr>
        <p:grpSpPr>
          <a:xfrm rot="10800000">
            <a:off x="10279968" y="260122"/>
            <a:ext cx="138977" cy="138977"/>
            <a:chOff x="4794103" y="1588576"/>
            <a:chExt cx="1242488" cy="1242488"/>
          </a:xfrm>
        </p:grpSpPr>
        <p:sp>
          <p:nvSpPr>
            <p:cNvPr id="277" name="Google Shape;277;p20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8" name="Google Shape;278;p20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9" name="Google Shape;279;p20"/>
          <p:cNvGrpSpPr/>
          <p:nvPr/>
        </p:nvGrpSpPr>
        <p:grpSpPr>
          <a:xfrm>
            <a:off x="5974567" y="2232312"/>
            <a:ext cx="138977" cy="138977"/>
            <a:chOff x="4794103" y="1588576"/>
            <a:chExt cx="1242488" cy="1242488"/>
          </a:xfrm>
        </p:grpSpPr>
        <p:sp>
          <p:nvSpPr>
            <p:cNvPr id="280" name="Google Shape;280;p20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1" name="Google Shape;281;p20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2" name="Google Shape;282;p20"/>
          <p:cNvSpPr txBox="1"/>
          <p:nvPr/>
        </p:nvSpPr>
        <p:spPr>
          <a:xfrm>
            <a:off x="5817273" y="447416"/>
            <a:ext cx="2171363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ru-RU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ru-RU" b="1" dirty="0"/>
              <a:t>Бесплатный </a:t>
            </a:r>
            <a:r>
              <a:rPr lang="ru-RU" b="1" dirty="0" smtClean="0"/>
              <a:t>старт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ru-RU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lang="ru-RU" b="1" dirty="0"/>
              <a:t>Всё в одном </a:t>
            </a:r>
            <a:r>
              <a:rPr lang="ru-RU" b="1" dirty="0" smtClean="0"/>
              <a:t>месте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ru-RU" b="1" dirty="0" smtClean="0"/>
              <a:t>+ </a:t>
            </a:r>
            <a:r>
              <a:rPr lang="ru-RU" b="1" dirty="0"/>
              <a:t>Экономия времени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b="1" dirty="0" smtClean="0"/>
          </a:p>
          <a:p>
            <a:pPr lvl="0">
              <a:spcBef>
                <a:spcPts val="1000"/>
              </a:spcBef>
              <a:buClr>
                <a:schemeClr val="dk1"/>
              </a:buClr>
              <a:buSzPts val="1800"/>
            </a:pPr>
            <a:endParaRPr lang="ru-RU" b="1" dirty="0" smtClean="0"/>
          </a:p>
        </p:txBody>
      </p:sp>
      <p:sp>
        <p:nvSpPr>
          <p:cNvPr id="283" name="Google Shape;283;p20"/>
          <p:cNvSpPr txBox="1"/>
          <p:nvPr/>
        </p:nvSpPr>
        <p:spPr>
          <a:xfrm>
            <a:off x="8533319" y="415119"/>
            <a:ext cx="2214089" cy="144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ru-RU" b="1" dirty="0" smtClean="0"/>
              <a:t>Зависимость </a:t>
            </a:r>
            <a:r>
              <a:rPr lang="ru-RU" b="1" dirty="0"/>
              <a:t>от сторонних </a:t>
            </a:r>
            <a:r>
              <a:rPr lang="en-US" b="1" dirty="0" smtClean="0"/>
              <a:t>API</a:t>
            </a:r>
            <a:endParaRPr lang="ru-RU" b="1" dirty="0" smtClean="0"/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ru-RU" b="1" dirty="0"/>
              <a:t>Лимиты бесплатных </a:t>
            </a:r>
            <a:r>
              <a:rPr lang="ru-RU" b="1" dirty="0" smtClean="0"/>
              <a:t>тарифов</a:t>
            </a:r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ru-RU" b="1" dirty="0"/>
              <a:t>Ограниченный функционал</a:t>
            </a:r>
            <a:endParaRPr lang="ru-RU" b="1" dirty="0" smtClean="0"/>
          </a:p>
          <a:p>
            <a:pPr marL="285750" lvl="0" indent="-285750">
              <a:spcBef>
                <a:spcPts val="1000"/>
              </a:spcBef>
              <a:buClr>
                <a:schemeClr val="dk1"/>
              </a:buClr>
              <a:buSzPts val="1800"/>
              <a:buFontTx/>
              <a:buChar char="-"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543" y="2713251"/>
            <a:ext cx="4451084" cy="3779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0" y="1179582"/>
            <a:ext cx="7004880" cy="4861981"/>
          </a:xfrm>
          <a:prstGeom prst="rect">
            <a:avLst/>
          </a:prstGeom>
        </p:spPr>
      </p:pic>
      <p:grpSp>
        <p:nvGrpSpPr>
          <p:cNvPr id="289" name="Google Shape;289;p21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290" name="Google Shape;290;p21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1" name="Google Shape;291;p21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92" name="Google Shape;2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62109" y="6326507"/>
            <a:ext cx="114489" cy="11666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7063954" y="3193951"/>
            <a:ext cx="4696983" cy="208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b="1" dirty="0" smtClean="0"/>
              <a:t>Перспективы </a:t>
            </a:r>
            <a:r>
              <a:rPr lang="ru-RU" b="1" dirty="0"/>
              <a:t>развития проекта</a:t>
            </a:r>
            <a:r>
              <a:rPr lang="ru-RU" b="1" dirty="0" smtClean="0"/>
              <a:t>:</a:t>
            </a:r>
            <a:endParaRPr lang="ru-RU" b="1" dirty="0"/>
          </a:p>
          <a:p>
            <a:pPr lvl="0">
              <a:buClr>
                <a:schemeClr val="dk1"/>
              </a:buClr>
              <a:buSzPts val="1600"/>
            </a:pPr>
            <a:endParaRPr lang="ru-RU" dirty="0" smtClean="0"/>
          </a:p>
          <a:p>
            <a:pPr lvl="0">
              <a:buClr>
                <a:schemeClr val="dk1"/>
              </a:buClr>
              <a:buSzPts val="1600"/>
            </a:pPr>
            <a:r>
              <a:rPr lang="ru-RU" dirty="0" smtClean="0"/>
              <a:t>1</a:t>
            </a:r>
            <a:r>
              <a:rPr lang="ru-RU" dirty="0"/>
              <a:t>. Добавить подписки на отслеживание снижения цен с уведомлениями.</a:t>
            </a:r>
          </a:p>
          <a:p>
            <a:pPr lvl="0">
              <a:buClr>
                <a:schemeClr val="dk1"/>
              </a:buClr>
              <a:buSzPts val="1600"/>
            </a:pPr>
            <a:endParaRPr lang="ru-RU" dirty="0"/>
          </a:p>
          <a:p>
            <a:pPr lvl="0">
              <a:buClr>
                <a:schemeClr val="dk1"/>
              </a:buClr>
              <a:buSzPts val="1600"/>
            </a:pPr>
            <a:r>
              <a:rPr lang="ru-RU" dirty="0"/>
              <a:t>2. Внедрить поиск сложных маршрутов (с пересадками, мульти-города, «везде»).</a:t>
            </a:r>
          </a:p>
          <a:p>
            <a:pPr lvl="0">
              <a:buClr>
                <a:schemeClr val="dk1"/>
              </a:buClr>
              <a:buSzPts val="1600"/>
            </a:pPr>
            <a:endParaRPr lang="ru-RU" dirty="0"/>
          </a:p>
          <a:p>
            <a:pPr lvl="0">
              <a:buClr>
                <a:schemeClr val="dk1"/>
              </a:buClr>
              <a:buSzPts val="1600"/>
            </a:pPr>
            <a:r>
              <a:rPr lang="ru-RU" dirty="0"/>
              <a:t>3</a:t>
            </a:r>
            <a:r>
              <a:rPr lang="ru-RU" dirty="0" smtClean="0"/>
              <a:t>. </a:t>
            </a:r>
            <a:r>
              <a:rPr lang="ru-RU" dirty="0"/>
              <a:t>Добавить отзывы об отелях и интеграцию с картами.</a:t>
            </a:r>
          </a:p>
          <a:p>
            <a:pPr lvl="0">
              <a:buClr>
                <a:schemeClr val="dk1"/>
              </a:buClr>
              <a:buSzPts val="1600"/>
            </a:pPr>
            <a:endParaRPr lang="ru-RU" dirty="0"/>
          </a:p>
          <a:p>
            <a:pPr lvl="0">
              <a:buClr>
                <a:schemeClr val="dk1"/>
              </a:buClr>
              <a:buSzPts val="1600"/>
            </a:pPr>
            <a:r>
              <a:rPr lang="ru-RU" dirty="0" smtClean="0"/>
              <a:t>4. </a:t>
            </a:r>
            <a:r>
              <a:rPr lang="ru-RU" dirty="0"/>
              <a:t>Внедрить искусственный интеллект для автоматического планирования маршрутов.</a:t>
            </a:r>
          </a:p>
          <a:p>
            <a:pPr lvl="0">
              <a:buClr>
                <a:schemeClr val="dk1"/>
              </a:buClr>
              <a:buSzPts val="1600"/>
            </a:pPr>
            <a:endParaRPr lang="ru-RU" dirty="0"/>
          </a:p>
          <a:p>
            <a:pPr lvl="0">
              <a:buClr>
                <a:schemeClr val="dk1"/>
              </a:buClr>
              <a:buSzPts val="1600"/>
            </a:pPr>
            <a:endParaRPr dirty="0"/>
          </a:p>
        </p:txBody>
      </p:sp>
      <p:grpSp>
        <p:nvGrpSpPr>
          <p:cNvPr id="294" name="Google Shape;294;p21"/>
          <p:cNvGrpSpPr/>
          <p:nvPr/>
        </p:nvGrpSpPr>
        <p:grpSpPr>
          <a:xfrm rot="5400000">
            <a:off x="7325471" y="1293382"/>
            <a:ext cx="138977" cy="138977"/>
            <a:chOff x="4794103" y="1588576"/>
            <a:chExt cx="1242488" cy="1242488"/>
          </a:xfrm>
        </p:grpSpPr>
        <p:sp>
          <p:nvSpPr>
            <p:cNvPr id="295" name="Google Shape;295;p21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9525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6" name="Google Shape;296;p21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7" name="Google Shape;297;p21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name="adj" fmla="val 166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>
            <a:hlinkClick r:id="" action="ppaction://hlinkshowjump?jump=firstslide"/>
          </p:cNvPr>
          <p:cNvSpPr/>
          <p:nvPr/>
        </p:nvSpPr>
        <p:spPr>
          <a:xfrm>
            <a:off x="605779" y="296862"/>
            <a:ext cx="2743813" cy="29760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Перспективы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>
            <a:off x="460682" y="682639"/>
            <a:ext cx="19081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/>
          <p:nvPr/>
        </p:nvSpPr>
        <p:spPr>
          <a:xfrm>
            <a:off x="380489" y="359111"/>
            <a:ext cx="5301341" cy="6139777"/>
          </a:xfrm>
          <a:prstGeom prst="roundRect">
            <a:avLst>
              <a:gd name="adj" fmla="val 9167"/>
            </a:avLst>
          </a:prstGeom>
          <a:solidFill>
            <a:srgbClr val="3735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459147" y="1634730"/>
            <a:ext cx="46984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Контакты лидера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459147" y="2050228"/>
            <a:ext cx="236564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ФИО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+7 999 000 00 00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mailto@mailto.com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993524" y="-367540"/>
            <a:ext cx="6151359" cy="262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ru-RU" sz="2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Команда  </a:t>
            </a:r>
            <a:endParaRPr sz="2000" b="0" i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ru-RU" sz="2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проекта</a:t>
            </a:r>
            <a:endParaRPr sz="2000" b="0" i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81947" y="735467"/>
            <a:ext cx="282388" cy="282388"/>
          </a:xfrm>
          <a:prstGeom prst="roundRect">
            <a:avLst>
              <a:gd name="adj" fmla="val 16667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22"/>
          <p:cNvCxnSpPr/>
          <p:nvPr/>
        </p:nvCxnSpPr>
        <p:spPr>
          <a:xfrm>
            <a:off x="1174937" y="971010"/>
            <a:ext cx="190817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1" name="Google Shape;311;p22"/>
          <p:cNvSpPr txBox="1"/>
          <p:nvPr/>
        </p:nvSpPr>
        <p:spPr>
          <a:xfrm>
            <a:off x="371204" y="3741346"/>
            <a:ext cx="4698426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Наставник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Образовательная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организация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2931414" y="3741346"/>
            <a:ext cx="281198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Артемьев Иван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Викторович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IT-cube Красноярск</a:t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6135789" y="292494"/>
            <a:ext cx="5492793" cy="4999941"/>
          </a:xfrm>
          <a:prstGeom prst="roundRect">
            <a:avLst>
              <a:gd name="adj" fmla="val 5414"/>
            </a:avLst>
          </a:prstGeom>
          <a:solidFill>
            <a:srgbClr val="A62B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143401" y="248767"/>
            <a:ext cx="5485181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ФИО лидера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основные навыки, которые использовали в проекте, фото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 rot="-226788">
            <a:off x="7120668" y="1549724"/>
            <a:ext cx="3523035" cy="3474851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2275558" y="8525064"/>
            <a:ext cx="3791231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Вставить фото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Нажать на изображение –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вкладка «Формат фигуры» 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Заливка – Рисунок или градиент –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Источник изображения - Вставить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588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3719067" y="1148799"/>
            <a:ext cx="6093607" cy="43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ru-RU" sz="6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Спасибо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ru-RU" sz="6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 внимание</a:t>
            </a:r>
            <a:endParaRPr sz="6000" b="0" i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24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345" name="Google Shape;345;p24"/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/>
              <a:ahLst/>
              <a:cxnLst/>
              <a:rect l="l" t="t" r="r" b="b"/>
              <a:pathLst>
                <a:path w="1095282" h="1099265" extrusionOk="0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 cap="flat" cmpd="sng">
              <a:solidFill>
                <a:srgbClr val="2641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6" name="Google Shape;346;p24"/>
            <p:cNvCxnSpPr/>
            <p:nvPr/>
          </p:nvCxnSpPr>
          <p:spPr>
            <a:xfrm rot="10800000" flipH="1">
              <a:off x="4794103" y="1588577"/>
              <a:ext cx="1242488" cy="124248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47" name="Google Shape;347;p24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24"/>
          <p:cNvCxnSpPr/>
          <p:nvPr/>
        </p:nvCxnSpPr>
        <p:spPr>
          <a:xfrm flipH="1">
            <a:off x="816078" y="998267"/>
            <a:ext cx="28063" cy="2158883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9" name="Google Shape;34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9229" y="168548"/>
            <a:ext cx="6904522" cy="5291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814</Words>
  <Application>Microsoft Office PowerPoint</Application>
  <PresentationFormat>Широкоэкранный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Админ</cp:lastModifiedBy>
  <cp:revision>21</cp:revision>
  <dcterms:modified xsi:type="dcterms:W3CDTF">2026-04-27T13:17:57Z</dcterms:modified>
</cp:coreProperties>
</file>